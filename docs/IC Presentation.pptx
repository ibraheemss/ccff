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Roboto Slab"/>
      <p:regular r:id="rId19"/>
      <p:bold r:id="rId20"/>
    </p:embeddedFont>
    <p:embeddedFont>
      <p:font typeface="Robo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Slab-bold.fntdata"/><Relationship Id="rId11" Type="http://schemas.openxmlformats.org/officeDocument/2006/relationships/slide" Target="slides/slide5.xml"/><Relationship Id="rId22" Type="http://schemas.openxmlformats.org/officeDocument/2006/relationships/font" Target="fonts/Roboto-bold.fntdata"/><Relationship Id="rId10" Type="http://schemas.openxmlformats.org/officeDocument/2006/relationships/slide" Target="slides/slide4.xml"/><Relationship Id="rId21" Type="http://schemas.openxmlformats.org/officeDocument/2006/relationships/font" Target="fonts/Roboto-regular.fntdata"/><Relationship Id="rId13" Type="http://schemas.openxmlformats.org/officeDocument/2006/relationships/slide" Target="slides/slide7.xml"/><Relationship Id="rId24" Type="http://schemas.openxmlformats.org/officeDocument/2006/relationships/font" Target="fonts/Roboto-boldItalic.fntdata"/><Relationship Id="rId12" Type="http://schemas.openxmlformats.org/officeDocument/2006/relationships/slide" Target="slides/slide6.xml"/><Relationship Id="rId23" Type="http://schemas.openxmlformats.org/officeDocument/2006/relationships/font" Target="fonts/Robo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font" Target="fonts/RobotoSlab-regular.fnt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c265431e68_2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g3c265431e68_2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g3c265431e68_2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c265431e68_2_1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g3c265431e68_2_1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g3c265431e68_2_1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265431e68_2_3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g3c265431e68_2_3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c265431e68_2_3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c265431e68_2_4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g3c265431e68_2_4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c265431e68_2_4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c265431e68_2_6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g3c265431e68_2_6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c265431e68_2_6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c265431e68_2_7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3c265431e68_2_7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c265431e68_2_7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c265431e68_2_9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3c265431e68_2_9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c265431e68_2_9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c265431e68_2_11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3c265431e68_2_11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c265431e68_2_11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c265431e68_2_12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3c265431e68_2_12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c265431e68_2_12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c265431e68_2_14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g3c265431e68_2_14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3c265431e68_2_14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c265431e68_2_16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g3c265431e68_2_16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c265431e68_2_16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c265431e68_2_19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g3c265431e68_2_19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g3c265431e68_2_19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6" name="Google Shape;6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/>
          <p:nvPr/>
        </p:nvSpPr>
        <p:spPr>
          <a:xfrm>
            <a:off x="571500" y="1013547"/>
            <a:ext cx="5715000" cy="2011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469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293"/>
              <a:buFont typeface="Calibri"/>
              <a:buNone/>
            </a:pPr>
            <a:r>
              <a:rPr b="1" i="0" lang="en" sz="3293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Design and Analysis of a Low-Power Conditional-Capture Flip-Flop (CCFF)</a:t>
            </a:r>
            <a:endParaRPr b="0" i="0" sz="32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571500" y="2921533"/>
            <a:ext cx="57150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2"/>
              <a:buFont typeface="Calibri"/>
              <a:buNone/>
            </a:pPr>
            <a:r>
              <a:rPr b="1" i="0" lang="en" sz="160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32 nm CMOS </a:t>
            </a:r>
            <a:r>
              <a:rPr b="1" lang="en" sz="1602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Digital</a:t>
            </a:r>
            <a:r>
              <a:rPr b="1" i="0" lang="en" sz="160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Integrated Circuits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571500" y="3438621"/>
            <a:ext cx="2786100" cy="1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87"/>
              <a:buFont typeface="Calibri"/>
              <a:buNone/>
            </a:pPr>
            <a:r>
              <a:rPr b="1" i="0" lang="en" sz="987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COURSE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571500" y="3669007"/>
            <a:ext cx="2466600" cy="1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ENCS333 – Digital Integrated Circuits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3500438" y="3837784"/>
            <a:ext cx="2786063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87"/>
              <a:buFont typeface="Calibri"/>
              <a:buNone/>
            </a:pPr>
            <a:r>
              <a:rPr b="1" lang="en" sz="987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Team Members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3500456" y="4129827"/>
            <a:ext cx="2101200" cy="1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lang="en" sz="10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Abedalrheem Fialah - 1220216</a:t>
            </a:r>
            <a:endParaRPr sz="105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lang="en" sz="10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Aws Hammad - 1221697</a:t>
            </a:r>
            <a:endParaRPr sz="105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lang="en" sz="10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Ibraheem Sleet - 1220200</a:t>
            </a:r>
            <a:endParaRPr sz="105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571525" y="3935125"/>
            <a:ext cx="2786100" cy="1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87"/>
              <a:buFont typeface="Calibri"/>
              <a:buNone/>
            </a:pPr>
            <a:r>
              <a:rPr b="1" i="0" lang="en" sz="987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TOOLCHAIN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571525" y="4165511"/>
            <a:ext cx="1345200" cy="1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Electric VLSI + SPICE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571513" y="4431637"/>
            <a:ext cx="2786100" cy="1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87"/>
              <a:buFont typeface="Calibri"/>
              <a:buNone/>
            </a:pPr>
            <a:r>
              <a:rPr b="1" i="0" lang="en" sz="987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INSTRUCTOR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571513" y="4662023"/>
            <a:ext cx="1203600" cy="1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lang="en" sz="10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Khader Mohammad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2" name="Google Shape;8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/>
          <p:nvPr/>
        </p:nvSpPr>
        <p:spPr>
          <a:xfrm>
            <a:off x="571500" y="856106"/>
            <a:ext cx="8572500" cy="7543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152"/>
              </a:lnSpc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2436"/>
              <a:buFont typeface="Calibri"/>
              <a:buNone/>
            </a:pPr>
            <a:r>
              <a:rPr b="1" i="0" lang="en" sz="2436" u="none" cap="none" strike="noStrike">
                <a:solidFill>
                  <a:srgbClr val="0033A0"/>
                </a:solidFill>
                <a:latin typeface="Calibri"/>
                <a:ea typeface="Calibri"/>
                <a:cs typeface="Calibri"/>
                <a:sym typeface="Calibri"/>
              </a:rPr>
              <a:t>Clocked Storage Elements Dominate Total Chip Power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571500" y="2380822"/>
            <a:ext cx="3893344" cy="273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97"/>
              <a:buFont typeface="Calibri"/>
              <a:buNone/>
            </a:pPr>
            <a:r>
              <a:rPr b="1" i="0" lang="en" sz="1397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The Power Bottleneck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571500" y="2711221"/>
            <a:ext cx="3893344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Flip-flops and clock distribution networks contribute </a:t>
            </a:r>
            <a:r>
              <a:rPr b="1" i="0" lang="en" sz="987" u="none" cap="none" strike="noStrike">
                <a:solidFill>
                  <a:srgbClr val="EC5800"/>
                </a:solidFill>
                <a:latin typeface="Calibri"/>
                <a:ea typeface="Calibri"/>
                <a:cs typeface="Calibri"/>
                <a:sym typeface="Calibri"/>
              </a:rPr>
              <a:t>30–50%</a:t>
            </a:r>
            <a:r>
              <a:rPr b="0" i="0" lang="en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of total clock power in modern high-performance integrated circuits.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4679156" y="2380822"/>
            <a:ext cx="3893344" cy="273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97"/>
              <a:buFont typeface="Calibri"/>
              <a:buNone/>
            </a:pPr>
            <a:r>
              <a:rPr b="1" i="0" lang="en" sz="1397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Redundant Activity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4679156" y="2711221"/>
            <a:ext cx="3893344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Conventional flip-flops switch internal nodes every clock cycle, even when the input data (D) matches the stored state (Q), leading to </a:t>
            </a:r>
            <a:r>
              <a:rPr b="1" i="0" lang="en" sz="987" u="none" cap="none" strike="noStrike">
                <a:solidFill>
                  <a:srgbClr val="EC5800"/>
                </a:solidFill>
                <a:latin typeface="Calibri"/>
                <a:ea typeface="Calibri"/>
                <a:cs typeface="Calibri"/>
                <a:sym typeface="Calibri"/>
              </a:rPr>
              <a:t>wasted dynamic power</a:t>
            </a:r>
            <a:r>
              <a:rPr b="0" i="0" lang="en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571500" y="3868508"/>
            <a:ext cx="3893344" cy="273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97"/>
              <a:buFont typeface="Calibri"/>
              <a:buNone/>
            </a:pPr>
            <a:r>
              <a:rPr b="1" i="0" lang="en" sz="1397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Dynamic Power Waste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571500" y="4198906"/>
            <a:ext cx="3893344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Every clock transition triggers internal charging and discharging cycles, regardless of the actual data activity levels in the circuit.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4679156" y="3868508"/>
            <a:ext cx="3893344" cy="273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97"/>
              <a:buFont typeface="Calibri"/>
              <a:buNone/>
            </a:pPr>
            <a:r>
              <a:rPr b="1" i="0" lang="en" sz="1397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Our Design Goal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4679156" y="4198906"/>
            <a:ext cx="3893344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To implement a mechanism that reduces clock and internal power by </a:t>
            </a:r>
            <a:r>
              <a:rPr b="1" i="0" lang="en" sz="987" u="none" cap="none" strike="noStrike">
                <a:solidFill>
                  <a:srgbClr val="EC5800"/>
                </a:solidFill>
                <a:latin typeface="Calibri"/>
                <a:ea typeface="Calibri"/>
                <a:cs typeface="Calibri"/>
                <a:sym typeface="Calibri"/>
              </a:rPr>
              <a:t>disabling capture</a:t>
            </a:r>
            <a:r>
              <a:rPr b="0" i="0" lang="en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when data remains unchanged, without compromising timing integrity.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7" name="Google Shape;9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7"/>
          <p:cNvSpPr/>
          <p:nvPr/>
        </p:nvSpPr>
        <p:spPr>
          <a:xfrm>
            <a:off x="571500" y="832386"/>
            <a:ext cx="8572500" cy="6914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293"/>
              </a:lnSpc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2226"/>
              <a:buFont typeface="Calibri"/>
              <a:buNone/>
            </a:pPr>
            <a:r>
              <a:rPr b="1" i="0" lang="en" sz="2226" u="none" cap="none" strike="noStrike">
                <a:solidFill>
                  <a:srgbClr val="0033A0"/>
                </a:solidFill>
                <a:latin typeface="Calibri"/>
                <a:ea typeface="Calibri"/>
                <a:cs typeface="Calibri"/>
                <a:sym typeface="Calibri"/>
              </a:rPr>
              <a:t>Master-Slave Flip-Flops Exhibit High Switching Overhead</a:t>
            </a:r>
            <a:endParaRPr b="0" i="0" sz="22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571500" y="2113378"/>
            <a:ext cx="2500313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93"/>
              <a:buFont typeface="Calibri"/>
              <a:buNone/>
            </a:pPr>
            <a:r>
              <a:rPr b="1" i="0" lang="en" sz="1193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Master-Slave Structure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7"/>
          <p:cNvSpPr/>
          <p:nvPr/>
        </p:nvSpPr>
        <p:spPr>
          <a:xfrm>
            <a:off x="571500" y="2475923"/>
            <a:ext cx="2500313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Calibri"/>
              <a:buNone/>
            </a:pPr>
            <a:r>
              <a:rPr b="0" i="0" lang="en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Typical designs use two cascaded latches controlled by complementary clock signals, doubling the internal switching activity.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7"/>
          <p:cNvSpPr/>
          <p:nvPr/>
        </p:nvSpPr>
        <p:spPr>
          <a:xfrm>
            <a:off x="3214688" y="2113378"/>
            <a:ext cx="2500313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93"/>
              <a:buFont typeface="Calibri"/>
              <a:buNone/>
            </a:pPr>
            <a:r>
              <a:rPr b="1" i="0" lang="en" sz="1193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Precharge Inefficiency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3214688" y="2475923"/>
            <a:ext cx="2500313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Calibri"/>
              <a:buNone/>
            </a:pPr>
            <a:r>
              <a:rPr b="0" i="0" lang="en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Internal nodes precharge and discharge every clock cycle, creating a high clock load and wasting energy on redundant transitions.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7"/>
          <p:cNvSpPr/>
          <p:nvPr/>
        </p:nvSpPr>
        <p:spPr>
          <a:xfrm>
            <a:off x="571500" y="3661786"/>
            <a:ext cx="2500313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93"/>
              <a:buFont typeface="Calibri"/>
              <a:buNone/>
            </a:pPr>
            <a:r>
              <a:rPr b="1" i="0" lang="en" sz="1193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Data Independence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7"/>
          <p:cNvSpPr/>
          <p:nvPr/>
        </p:nvSpPr>
        <p:spPr>
          <a:xfrm>
            <a:off x="571500" y="4024331"/>
            <a:ext cx="2500313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Calibri"/>
              <a:buNone/>
            </a:pPr>
            <a:r>
              <a:rPr b="0" i="0" lang="en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Power consumption remains high even during periods of zero data activity (D=Q), making it inefficient for low-switching workloads.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3214688" y="3661786"/>
            <a:ext cx="2500313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93"/>
              <a:buFont typeface="Calibri"/>
              <a:buNone/>
            </a:pPr>
            <a:r>
              <a:rPr b="1" i="0" lang="en" sz="1193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Scaling Challenges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7"/>
          <p:cNvSpPr/>
          <p:nvPr/>
        </p:nvSpPr>
        <p:spPr>
          <a:xfrm>
            <a:off x="3214688" y="4024331"/>
            <a:ext cx="2500313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Calibri"/>
              <a:buNone/>
            </a:pPr>
            <a:r>
              <a:rPr b="0" i="0" lang="en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As technology scales to 32 nm, leakage and dynamic power become critical constraints that standard designs struggle to address.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87700" y="2802250"/>
            <a:ext cx="3357300" cy="1093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8" name="Google Shape;108;p17"/>
          <p:cNvSpPr/>
          <p:nvPr/>
        </p:nvSpPr>
        <p:spPr>
          <a:xfrm>
            <a:off x="5893107" y="3926615"/>
            <a:ext cx="27465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4"/>
              <a:buFont typeface="Calibri"/>
              <a:buNone/>
            </a:pPr>
            <a:r>
              <a:rPr b="0" i="1" lang="en" sz="834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Conventional Master-Slave FF </a:t>
            </a:r>
            <a:r>
              <a:rPr i="1" lang="en" sz="834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Schematic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4" name="Google Shape;11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8"/>
          <p:cNvSpPr/>
          <p:nvPr/>
        </p:nvSpPr>
        <p:spPr>
          <a:xfrm>
            <a:off x="571500" y="832386"/>
            <a:ext cx="8572500" cy="6914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293"/>
              </a:lnSpc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2226"/>
              <a:buFont typeface="Calibri"/>
              <a:buNone/>
            </a:pPr>
            <a:r>
              <a:rPr b="1" i="0" lang="en" sz="2226" u="none" cap="none" strike="noStrike">
                <a:solidFill>
                  <a:srgbClr val="0033A0"/>
                </a:solidFill>
                <a:latin typeface="Calibri"/>
                <a:ea typeface="Calibri"/>
                <a:cs typeface="Calibri"/>
                <a:sym typeface="Calibri"/>
              </a:rPr>
              <a:t>Conditional-Capture Concept Enables Data-Dependent Power Gating</a:t>
            </a:r>
            <a:endParaRPr b="0" i="0" sz="22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8"/>
          <p:cNvSpPr/>
          <p:nvPr/>
        </p:nvSpPr>
        <p:spPr>
          <a:xfrm>
            <a:off x="571500" y="2256253"/>
            <a:ext cx="3914775" cy="273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97"/>
              <a:buFont typeface="Calibri"/>
              <a:buNone/>
            </a:pPr>
            <a:r>
              <a:rPr b="1" i="0" lang="en" sz="1397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Intelligent Capture Logic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571500" y="2600939"/>
            <a:ext cx="3914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The CCFF employs a comparator to check if </a:t>
            </a:r>
            <a:r>
              <a:rPr b="1" i="0" lang="en" sz="987" u="none" cap="none" strike="noStrike">
                <a:solidFill>
                  <a:srgbClr val="EC5800"/>
                </a:solidFill>
                <a:latin typeface="Calibri"/>
                <a:ea typeface="Calibri"/>
                <a:cs typeface="Calibri"/>
                <a:sym typeface="Calibri"/>
              </a:rPr>
              <a:t>D ≠ Q</a:t>
            </a:r>
            <a:r>
              <a:rPr b="0" i="0" lang="en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 Internal switching only occurs when a state change is required.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8"/>
          <p:cNvSpPr/>
          <p:nvPr/>
        </p:nvSpPr>
        <p:spPr>
          <a:xfrm>
            <a:off x="571500" y="3529626"/>
            <a:ext cx="3914775" cy="273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97"/>
              <a:buFont typeface="Calibri"/>
              <a:buNone/>
            </a:pPr>
            <a:r>
              <a:rPr b="1" i="0" lang="en" sz="1397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Statistical Efficiency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8"/>
          <p:cNvSpPr/>
          <p:nvPr/>
        </p:nvSpPr>
        <p:spPr>
          <a:xfrm>
            <a:off x="571500" y="3874312"/>
            <a:ext cx="39147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By disabling capture when </a:t>
            </a:r>
            <a:r>
              <a:rPr b="1" i="0" lang="en" sz="987" u="none" cap="none" strike="noStrike">
                <a:solidFill>
                  <a:srgbClr val="EC5800"/>
                </a:solidFill>
                <a:latin typeface="Calibri"/>
                <a:ea typeface="Calibri"/>
                <a:cs typeface="Calibri"/>
                <a:sym typeface="Calibri"/>
              </a:rPr>
              <a:t>D = Q</a:t>
            </a:r>
            <a:r>
              <a:rPr b="0" i="0" lang="en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, redundant transitions are eliminated, significantly reducing average dynamic power.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18" title="Screenshot 2026-01-30 at 17.29.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6754" y="1748925"/>
            <a:ext cx="2769775" cy="18679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1" name="Google Shape;121;p18"/>
          <p:cNvSpPr txBox="1"/>
          <p:nvPr/>
        </p:nvSpPr>
        <p:spPr>
          <a:xfrm>
            <a:off x="5979687" y="3652725"/>
            <a:ext cx="22839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4"/>
              <a:buFont typeface="Calibri"/>
              <a:buNone/>
            </a:pPr>
            <a:r>
              <a:rPr i="1" lang="en" sz="834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Conditional capture flip-flop (single-ended)</a:t>
            </a:r>
            <a:endParaRPr i="1" sz="834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7" name="Google Shape;12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" y="57150"/>
            <a:ext cx="90297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9"/>
          <p:cNvSpPr/>
          <p:nvPr/>
        </p:nvSpPr>
        <p:spPr>
          <a:xfrm>
            <a:off x="628650" y="818099"/>
            <a:ext cx="6429375" cy="10372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293"/>
              </a:lnSpc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2226"/>
              <a:buFont typeface="Calibri"/>
              <a:buNone/>
            </a:pPr>
            <a:r>
              <a:rPr b="1" i="0" lang="en" sz="2226" u="none" cap="none" strike="noStrike">
                <a:solidFill>
                  <a:srgbClr val="0033A0"/>
                </a:solidFill>
                <a:latin typeface="Calibri"/>
                <a:ea typeface="Calibri"/>
                <a:cs typeface="Calibri"/>
                <a:sym typeface="Calibri"/>
              </a:rPr>
              <a:t>CCFF Architecture Integrates Control Logic for Efficient Switching</a:t>
            </a:r>
            <a:endParaRPr b="0" i="0" sz="22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9"/>
          <p:cNvSpPr/>
          <p:nvPr/>
        </p:nvSpPr>
        <p:spPr>
          <a:xfrm>
            <a:off x="628650" y="2330537"/>
            <a:ext cx="3943350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EC5800"/>
              </a:buClr>
              <a:buSzPts val="683"/>
              <a:buFont typeface="Calibri"/>
              <a:buNone/>
            </a:pPr>
            <a:r>
              <a:rPr b="1" i="0" lang="en" sz="683" u="none" cap="none" strike="noStrike">
                <a:solidFill>
                  <a:srgbClr val="EC5800"/>
                </a:solidFill>
                <a:latin typeface="Calibri"/>
                <a:ea typeface="Calibri"/>
                <a:cs typeface="Calibri"/>
                <a:sym typeface="Calibri"/>
              </a:rPr>
              <a:t>Stage 01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9"/>
          <p:cNvSpPr/>
          <p:nvPr/>
        </p:nvSpPr>
        <p:spPr>
          <a:xfrm>
            <a:off x="628650" y="2666293"/>
            <a:ext cx="3943350" cy="273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97"/>
              <a:buFont typeface="Calibri"/>
              <a:buNone/>
            </a:pPr>
            <a:r>
              <a:rPr b="1" i="0" lang="en" sz="1397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Conditional Capture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9"/>
          <p:cNvSpPr/>
          <p:nvPr/>
        </p:nvSpPr>
        <p:spPr>
          <a:xfrm>
            <a:off x="628650" y="3068129"/>
            <a:ext cx="3943350" cy="37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Calibri"/>
              <a:buNone/>
            </a:pPr>
            <a:r>
              <a:rPr b="0" i="0" lang="en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An input stage that compares </a:t>
            </a:r>
            <a:r>
              <a:rPr b="1" i="0" lang="en" sz="885" u="none" cap="none" strike="noStrike">
                <a:solidFill>
                  <a:srgbClr val="0033A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i="0" lang="en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i="0" lang="en" sz="885" u="none" cap="none" strike="noStrike">
                <a:solidFill>
                  <a:srgbClr val="0033A0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b="0" i="0" lang="en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and asserts an internal enable only when a change is needed.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9"/>
          <p:cNvSpPr/>
          <p:nvPr/>
        </p:nvSpPr>
        <p:spPr>
          <a:xfrm>
            <a:off x="4686300" y="2330537"/>
            <a:ext cx="3943350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EC5800"/>
              </a:buClr>
              <a:buSzPts val="683"/>
              <a:buFont typeface="Calibri"/>
              <a:buNone/>
            </a:pPr>
            <a:r>
              <a:rPr b="1" i="0" lang="en" sz="683" u="none" cap="none" strike="noStrike">
                <a:solidFill>
                  <a:srgbClr val="EC5800"/>
                </a:solidFill>
                <a:latin typeface="Calibri"/>
                <a:ea typeface="Calibri"/>
                <a:cs typeface="Calibri"/>
                <a:sym typeface="Calibri"/>
              </a:rPr>
              <a:t>Stage 02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9"/>
          <p:cNvSpPr/>
          <p:nvPr/>
        </p:nvSpPr>
        <p:spPr>
          <a:xfrm>
            <a:off x="4686300" y="2666293"/>
            <a:ext cx="3943350" cy="273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97"/>
              <a:buFont typeface="Calibri"/>
              <a:buNone/>
            </a:pPr>
            <a:r>
              <a:rPr b="1" i="0" lang="en" sz="1397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Storage Element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9"/>
          <p:cNvSpPr/>
          <p:nvPr/>
        </p:nvSpPr>
        <p:spPr>
          <a:xfrm>
            <a:off x="4686300" y="3068129"/>
            <a:ext cx="3943350" cy="37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Calibri"/>
              <a:buNone/>
            </a:pPr>
            <a:r>
              <a:rPr b="0" i="0" lang="en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 compact latch that holds state with </a:t>
            </a:r>
            <a:r>
              <a:rPr b="1" i="0" lang="en" sz="885" u="none" cap="none" strike="noStrike">
                <a:solidFill>
                  <a:srgbClr val="0033A0"/>
                </a:solidFill>
                <a:latin typeface="Calibri"/>
                <a:ea typeface="Calibri"/>
                <a:cs typeface="Calibri"/>
                <a:sym typeface="Calibri"/>
              </a:rPr>
              <a:t>minimal leakage</a:t>
            </a:r>
            <a:r>
              <a:rPr b="0" i="0" lang="en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and high stability in 32 nm CMOS.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9"/>
          <p:cNvSpPr/>
          <p:nvPr/>
        </p:nvSpPr>
        <p:spPr>
          <a:xfrm>
            <a:off x="628650" y="3583874"/>
            <a:ext cx="8001000" cy="123905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9"/>
          <p:cNvSpPr/>
          <p:nvPr/>
        </p:nvSpPr>
        <p:spPr>
          <a:xfrm>
            <a:off x="628650" y="3583874"/>
            <a:ext cx="8001000" cy="57150"/>
          </a:xfrm>
          <a:prstGeom prst="rect">
            <a:avLst/>
          </a:prstGeom>
          <a:solidFill>
            <a:srgbClr val="EC5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9"/>
          <p:cNvSpPr/>
          <p:nvPr/>
        </p:nvSpPr>
        <p:spPr>
          <a:xfrm>
            <a:off x="800100" y="3626737"/>
            <a:ext cx="7658100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EC5800"/>
              </a:buClr>
              <a:buSzPts val="683"/>
              <a:buFont typeface="Calibri"/>
              <a:buNone/>
            </a:pPr>
            <a:r>
              <a:rPr b="1" i="0" lang="en" sz="683" u="none" cap="none" strike="noStrike">
                <a:solidFill>
                  <a:srgbClr val="EC5800"/>
                </a:solidFill>
                <a:latin typeface="Calibri"/>
                <a:ea typeface="Calibri"/>
                <a:cs typeface="Calibri"/>
                <a:sym typeface="Calibri"/>
              </a:rPr>
              <a:t>Mechanism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9"/>
          <p:cNvSpPr/>
          <p:nvPr/>
        </p:nvSpPr>
        <p:spPr>
          <a:xfrm>
            <a:off x="800100" y="3962493"/>
            <a:ext cx="7658100" cy="273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97"/>
              <a:buFont typeface="Calibri"/>
              <a:buNone/>
            </a:pPr>
            <a:r>
              <a:rPr b="1" i="0" lang="en" sz="1397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Internal Clock Gating &amp; Timing Integrity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9"/>
          <p:cNvSpPr/>
          <p:nvPr/>
        </p:nvSpPr>
        <p:spPr>
          <a:xfrm>
            <a:off x="800100" y="4364329"/>
            <a:ext cx="7658100" cy="37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Calibri"/>
              <a:buNone/>
            </a:pPr>
            <a:r>
              <a:rPr b="0" i="0" lang="en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Logic compares input and output so the clock reaches the storage only when the data will change, saving power while keeping timing margins.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5" name="Google Shape;14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0"/>
          <p:cNvSpPr/>
          <p:nvPr/>
        </p:nvSpPr>
        <p:spPr>
          <a:xfrm>
            <a:off x="571500" y="832386"/>
            <a:ext cx="8572500" cy="6914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293"/>
              </a:lnSpc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2226"/>
              <a:buFont typeface="Calibri"/>
              <a:buNone/>
            </a:pPr>
            <a:r>
              <a:rPr b="1" i="0" lang="en" sz="2226" u="none" cap="none" strike="noStrike">
                <a:solidFill>
                  <a:srgbClr val="0033A0"/>
                </a:solidFill>
                <a:latin typeface="Calibri"/>
                <a:ea typeface="Calibri"/>
                <a:cs typeface="Calibri"/>
                <a:sym typeface="Calibri"/>
              </a:rPr>
              <a:t>Schematic Design Focuses on Minimizing Clocked Capacitance</a:t>
            </a:r>
            <a:endParaRPr b="0" i="0" sz="22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0"/>
          <p:cNvSpPr/>
          <p:nvPr/>
        </p:nvSpPr>
        <p:spPr>
          <a:xfrm>
            <a:off x="571500" y="2241965"/>
            <a:ext cx="3929063" cy="2518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996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95"/>
              <a:buFont typeface="Calibri"/>
              <a:buNone/>
            </a:pPr>
            <a:r>
              <a:rPr b="1" i="0" lang="en" sz="1295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Transistor-Level Design</a:t>
            </a:r>
            <a:endParaRPr b="0" i="0" sz="129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0"/>
          <p:cNvSpPr/>
          <p:nvPr/>
        </p:nvSpPr>
        <p:spPr>
          <a:xfrm>
            <a:off x="571500" y="2565220"/>
            <a:ext cx="3929063" cy="578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Calibri"/>
              <a:buNone/>
            </a:pPr>
            <a:r>
              <a:rPr b="0" i="0" lang="en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The CCFF is implemented using a full-custom approach in 32 nm CMOS, optimizing transistor sizing for the conditional capture path.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0"/>
          <p:cNvSpPr/>
          <p:nvPr/>
        </p:nvSpPr>
        <p:spPr>
          <a:xfrm>
            <a:off x="4643438" y="2241965"/>
            <a:ext cx="3929063" cy="2518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996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95"/>
              <a:buFont typeface="Calibri"/>
              <a:buNone/>
            </a:pPr>
            <a:r>
              <a:rPr b="1" i="0" lang="en" sz="1295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Path Optimization</a:t>
            </a:r>
            <a:endParaRPr b="0" i="0" sz="129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0"/>
          <p:cNvSpPr/>
          <p:nvPr/>
        </p:nvSpPr>
        <p:spPr>
          <a:xfrm>
            <a:off x="4643438" y="2565220"/>
            <a:ext cx="3929063" cy="578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Calibri"/>
              <a:buNone/>
            </a:pPr>
            <a:r>
              <a:rPr b="0" i="0" lang="en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The conditional path is specifically engineered to disable evaluation nodes when D equals Q, preventing unnecessary switching.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0"/>
          <p:cNvSpPr/>
          <p:nvPr/>
        </p:nvSpPr>
        <p:spPr>
          <a:xfrm>
            <a:off x="571500" y="3601064"/>
            <a:ext cx="3929063" cy="2518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996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95"/>
              <a:buFont typeface="Calibri"/>
              <a:buNone/>
            </a:pPr>
            <a:r>
              <a:rPr b="1" i="0" lang="en" sz="1295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Capacitive Loading</a:t>
            </a:r>
            <a:endParaRPr b="0" i="0" sz="129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0"/>
          <p:cNvSpPr/>
          <p:nvPr/>
        </p:nvSpPr>
        <p:spPr>
          <a:xfrm>
            <a:off x="571500" y="3924319"/>
            <a:ext cx="3929063" cy="578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Calibri"/>
              <a:buNone/>
            </a:pPr>
            <a:r>
              <a:rPr b="0" i="0" lang="en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By reducing the number of transistors directly connected to the clock network, we significantly lower the total clocked capacitance.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0"/>
          <p:cNvSpPr/>
          <p:nvPr/>
        </p:nvSpPr>
        <p:spPr>
          <a:xfrm>
            <a:off x="4643438" y="3601064"/>
            <a:ext cx="3929063" cy="2518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996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95"/>
              <a:buFont typeface="Calibri"/>
              <a:buNone/>
            </a:pPr>
            <a:r>
              <a:rPr b="1" i="0" lang="en" sz="1295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Voltage Scaling</a:t>
            </a:r>
            <a:endParaRPr b="0" i="0" sz="129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0"/>
          <p:cNvSpPr/>
          <p:nvPr/>
        </p:nvSpPr>
        <p:spPr>
          <a:xfrm>
            <a:off x="4643438" y="3924319"/>
            <a:ext cx="3929063" cy="578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Calibri"/>
              <a:buNone/>
            </a:pPr>
            <a:r>
              <a:rPr b="0" i="0" lang="en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The design is optimized for standard VDD operation, ensuring reliable performance across various process corners and temperatures.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0"/>
          <p:cNvSpPr/>
          <p:nvPr/>
        </p:nvSpPr>
        <p:spPr>
          <a:xfrm>
            <a:off x="0" y="4574400"/>
            <a:ext cx="9144000" cy="4554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0"/>
          <p:cNvSpPr/>
          <p:nvPr/>
        </p:nvSpPr>
        <p:spPr>
          <a:xfrm>
            <a:off x="0" y="4574400"/>
            <a:ext cx="9144000" cy="14288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0"/>
          <p:cNvSpPr/>
          <p:nvPr/>
        </p:nvSpPr>
        <p:spPr>
          <a:xfrm>
            <a:off x="571500" y="4645837"/>
            <a:ext cx="1089059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683"/>
              <a:buFont typeface="Calibri"/>
              <a:buNone/>
            </a:pPr>
            <a:r>
              <a:rPr b="1" i="0" lang="en" sz="683" u="none" cap="none" strike="noStrike">
                <a:solidFill>
                  <a:srgbClr val="0033A0"/>
                </a:solidFill>
                <a:latin typeface="Calibri"/>
                <a:ea typeface="Calibri"/>
                <a:cs typeface="Calibri"/>
                <a:sym typeface="Calibri"/>
              </a:rPr>
              <a:t>Technology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0"/>
          <p:cNvSpPr/>
          <p:nvPr/>
        </p:nvSpPr>
        <p:spPr>
          <a:xfrm>
            <a:off x="571500" y="4781569"/>
            <a:ext cx="1089059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93"/>
              <a:buFont typeface="Calibri"/>
              <a:buNone/>
            </a:pPr>
            <a:r>
              <a:rPr b="1" i="0" lang="en" sz="1193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32 nm CMOS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0"/>
          <p:cNvSpPr/>
          <p:nvPr/>
        </p:nvSpPr>
        <p:spPr>
          <a:xfrm>
            <a:off x="2089184" y="4645837"/>
            <a:ext cx="1092994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683"/>
              <a:buFont typeface="Calibri"/>
              <a:buNone/>
            </a:pPr>
            <a:r>
              <a:rPr b="1" i="0" lang="en" sz="683" u="none" cap="none" strike="noStrike">
                <a:solidFill>
                  <a:srgbClr val="0033A0"/>
                </a:solidFill>
                <a:latin typeface="Calibri"/>
                <a:ea typeface="Calibri"/>
                <a:cs typeface="Calibri"/>
                <a:sym typeface="Calibri"/>
              </a:rPr>
              <a:t>Toolchain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0"/>
          <p:cNvSpPr/>
          <p:nvPr/>
        </p:nvSpPr>
        <p:spPr>
          <a:xfrm>
            <a:off x="2089184" y="4781569"/>
            <a:ext cx="1092994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93"/>
              <a:buFont typeface="Calibri"/>
              <a:buNone/>
            </a:pPr>
            <a:r>
              <a:rPr b="1" i="0" lang="en" sz="1193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Electric VLSI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0"/>
          <p:cNvSpPr/>
          <p:nvPr/>
        </p:nvSpPr>
        <p:spPr>
          <a:xfrm>
            <a:off x="3610803" y="4645837"/>
            <a:ext cx="1128489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683"/>
              <a:buFont typeface="Calibri"/>
              <a:buNone/>
            </a:pPr>
            <a:r>
              <a:rPr b="1" i="0" lang="en" sz="683" u="none" cap="none" strike="noStrike">
                <a:solidFill>
                  <a:srgbClr val="0033A0"/>
                </a:solidFill>
                <a:latin typeface="Calibri"/>
                <a:ea typeface="Calibri"/>
                <a:cs typeface="Calibri"/>
                <a:sym typeface="Calibri"/>
              </a:rPr>
              <a:t>Simulation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0"/>
          <p:cNvSpPr/>
          <p:nvPr/>
        </p:nvSpPr>
        <p:spPr>
          <a:xfrm>
            <a:off x="3610803" y="4781569"/>
            <a:ext cx="1128489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93"/>
              <a:buFont typeface="Calibri"/>
              <a:buNone/>
            </a:pPr>
            <a:r>
              <a:rPr b="1" i="0" lang="en" sz="1193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SPICE Engine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8" name="Google Shape;16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1"/>
          <p:cNvSpPr/>
          <p:nvPr/>
        </p:nvSpPr>
        <p:spPr>
          <a:xfrm>
            <a:off x="571500" y="808667"/>
            <a:ext cx="85725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7"/>
              </a:lnSpc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2016"/>
              <a:buFont typeface="Calibri"/>
              <a:buNone/>
            </a:pPr>
            <a:r>
              <a:rPr b="1" i="0" lang="en" sz="2016" u="none" cap="none" strike="noStrike">
                <a:solidFill>
                  <a:srgbClr val="0033A0"/>
                </a:solidFill>
                <a:latin typeface="Calibri"/>
                <a:ea typeface="Calibri"/>
                <a:cs typeface="Calibri"/>
                <a:sym typeface="Calibri"/>
              </a:rPr>
              <a:t>Pre-Layout Simulation Verifies Functional Correctness</a:t>
            </a:r>
            <a:endParaRPr b="0" i="0" sz="20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1"/>
          <p:cNvSpPr/>
          <p:nvPr/>
        </p:nvSpPr>
        <p:spPr>
          <a:xfrm>
            <a:off x="571500" y="2017384"/>
            <a:ext cx="2686050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500" spcFirstLastPara="1" rIns="0" wrap="square" tIns="0">
            <a:no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90"/>
              <a:buFont typeface="Calibri"/>
              <a:buNone/>
            </a:pPr>
            <a:r>
              <a:rPr b="1" i="0" lang="en" sz="109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Transient Analysis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1"/>
          <p:cNvSpPr/>
          <p:nvPr/>
        </p:nvSpPr>
        <p:spPr>
          <a:xfrm>
            <a:off x="571500" y="2288846"/>
            <a:ext cx="2686050" cy="509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39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88"/>
              <a:buFont typeface="Calibri"/>
              <a:buNone/>
            </a:pPr>
            <a:r>
              <a:rPr b="0" i="0" lang="en" sz="888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Verified correct data capture across various input patterns and clock frequencies in the 32 nm CMOS process.</a:t>
            </a:r>
            <a:endParaRPr b="0" i="0" sz="8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1"/>
          <p:cNvSpPr/>
          <p:nvPr/>
        </p:nvSpPr>
        <p:spPr>
          <a:xfrm>
            <a:off x="571500" y="3041731"/>
            <a:ext cx="2686050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500" spcFirstLastPara="1" rIns="0" wrap="square" tIns="0">
            <a:no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90"/>
              <a:buFont typeface="Calibri"/>
              <a:buNone/>
            </a:pPr>
            <a:r>
              <a:rPr b="1" i="0" lang="en" sz="109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Zero-Switching Validation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1"/>
          <p:cNvSpPr/>
          <p:nvPr/>
        </p:nvSpPr>
        <p:spPr>
          <a:xfrm>
            <a:off x="571500" y="3313193"/>
            <a:ext cx="2686050" cy="509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39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88"/>
              <a:buFont typeface="Calibri"/>
              <a:buNone/>
            </a:pPr>
            <a:r>
              <a:rPr b="0" i="0" lang="en" sz="888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Confirmed that internal nodes remain static when D = Q, effectively eliminating redundant power consumption.</a:t>
            </a:r>
            <a:endParaRPr b="0" i="0" sz="8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1"/>
          <p:cNvSpPr/>
          <p:nvPr/>
        </p:nvSpPr>
        <p:spPr>
          <a:xfrm>
            <a:off x="571500" y="4066077"/>
            <a:ext cx="2686050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500" spcFirstLastPara="1" rIns="0" wrap="square" tIns="0">
            <a:no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90"/>
              <a:buFont typeface="Calibri"/>
              <a:buNone/>
            </a:pPr>
            <a:r>
              <a:rPr b="1" i="0" lang="en" sz="109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Performance Metrics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1"/>
          <p:cNvSpPr/>
          <p:nvPr/>
        </p:nvSpPr>
        <p:spPr>
          <a:xfrm>
            <a:off x="571500" y="4337540"/>
            <a:ext cx="2686050" cy="509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39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88"/>
              <a:buFont typeface="Calibri"/>
              <a:buNone/>
            </a:pPr>
            <a:r>
              <a:rPr b="0" i="0" lang="en" sz="888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Measured Clk-to-Q delay and setup/hold times to ensure high-speed operation and timing margin.</a:t>
            </a:r>
            <a:endParaRPr b="0" i="0" sz="8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" name="Google Shape;17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21535" y="1227837"/>
            <a:ext cx="2584838" cy="1435113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7" name="Google Shape;177;p21"/>
          <p:cNvSpPr txBox="1"/>
          <p:nvPr/>
        </p:nvSpPr>
        <p:spPr>
          <a:xfrm>
            <a:off x="5372012" y="2728525"/>
            <a:ext cx="22839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34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Conditional capture flip-flop Pre-Layout</a:t>
            </a:r>
            <a:endParaRPr i="1" sz="834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Google Shape;17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40150" y="3107300"/>
            <a:ext cx="3347600" cy="1529429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1"/>
          <p:cNvSpPr txBox="1"/>
          <p:nvPr/>
        </p:nvSpPr>
        <p:spPr>
          <a:xfrm>
            <a:off x="5371999" y="4636725"/>
            <a:ext cx="24627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34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Conditional capture flip-flop Pre-Layout Simulation</a:t>
            </a:r>
            <a:endParaRPr i="1" sz="834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5" name="Google Shape;18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24055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2"/>
          <p:cNvSpPr/>
          <p:nvPr/>
        </p:nvSpPr>
        <p:spPr>
          <a:xfrm>
            <a:off x="571500" y="832386"/>
            <a:ext cx="8572500" cy="6914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293"/>
              </a:lnSpc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2226"/>
              <a:buFont typeface="Calibri"/>
              <a:buNone/>
            </a:pPr>
            <a:r>
              <a:rPr b="1" i="0" lang="en" sz="2226" u="none" cap="none" strike="noStrike">
                <a:solidFill>
                  <a:srgbClr val="0033A0"/>
                </a:solidFill>
                <a:latin typeface="Calibri"/>
                <a:ea typeface="Calibri"/>
                <a:cs typeface="Calibri"/>
                <a:sym typeface="Calibri"/>
              </a:rPr>
              <a:t>Full-Custom Layout Optimizes Area and Interconnect Parasitics</a:t>
            </a:r>
            <a:endParaRPr b="0" i="0" sz="22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2"/>
          <p:cNvSpPr/>
          <p:nvPr/>
        </p:nvSpPr>
        <p:spPr>
          <a:xfrm>
            <a:off x="785813" y="2056228"/>
            <a:ext cx="3643313" cy="2518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996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95"/>
              <a:buFont typeface="Calibri"/>
              <a:buNone/>
            </a:pPr>
            <a:r>
              <a:rPr b="1" i="0" lang="en" sz="1295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Compact Placement</a:t>
            </a:r>
            <a:endParaRPr b="0" i="0" sz="129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2"/>
          <p:cNvSpPr/>
          <p:nvPr/>
        </p:nvSpPr>
        <p:spPr>
          <a:xfrm>
            <a:off x="785813" y="2436633"/>
            <a:ext cx="3643313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Calibri"/>
              <a:buNone/>
            </a:pPr>
            <a:r>
              <a:rPr b="0" i="0" lang="en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Shared diffusion and careful sizing minimize cell footprint in 32 nm.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2"/>
          <p:cNvSpPr/>
          <p:nvPr/>
        </p:nvSpPr>
        <p:spPr>
          <a:xfrm>
            <a:off x="785813" y="3179583"/>
            <a:ext cx="3643313" cy="2518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996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95"/>
              <a:buFont typeface="Calibri"/>
              <a:buNone/>
            </a:pPr>
            <a:r>
              <a:rPr b="1" i="0" lang="en" sz="1295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Area Optimization</a:t>
            </a:r>
            <a:endParaRPr b="0" i="0" sz="129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2"/>
          <p:cNvSpPr/>
          <p:nvPr/>
        </p:nvSpPr>
        <p:spPr>
          <a:xfrm>
            <a:off x="785813" y="3559987"/>
            <a:ext cx="3643313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Calibri"/>
              <a:buNone/>
            </a:pPr>
            <a:r>
              <a:rPr b="0" i="0" lang="en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Compact routing balances control logic to keep PDA competitive.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2"/>
          <p:cNvSpPr/>
          <p:nvPr/>
        </p:nvSpPr>
        <p:spPr>
          <a:xfrm>
            <a:off x="785813" y="4302937"/>
            <a:ext cx="3643313" cy="2518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996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95"/>
              <a:buFont typeface="Calibri"/>
              <a:buNone/>
            </a:pPr>
            <a:r>
              <a:rPr b="1" i="0" lang="en" sz="1295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Parasitic Management</a:t>
            </a:r>
            <a:endParaRPr b="0" i="0" sz="129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2"/>
          <p:cNvSpPr/>
          <p:nvPr/>
        </p:nvSpPr>
        <p:spPr>
          <a:xfrm>
            <a:off x="785813" y="4683342"/>
            <a:ext cx="3643313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Calibri"/>
              <a:buNone/>
            </a:pPr>
            <a:r>
              <a:rPr b="0" i="0" lang="en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Selective metal usage reduces interconnect capacitance and power impact.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3" name="Google Shape;19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3631" y="1391675"/>
            <a:ext cx="4295263" cy="2835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2"/>
          <p:cNvSpPr txBox="1"/>
          <p:nvPr/>
        </p:nvSpPr>
        <p:spPr>
          <a:xfrm>
            <a:off x="5559912" y="4227125"/>
            <a:ext cx="24627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34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Conditional capture flip-flop Post-Layout</a:t>
            </a:r>
            <a:endParaRPr i="1" sz="834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0" name="Google Shape;20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8" cy="5408432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3"/>
          <p:cNvSpPr/>
          <p:nvPr/>
        </p:nvSpPr>
        <p:spPr>
          <a:xfrm>
            <a:off x="571500" y="832386"/>
            <a:ext cx="8572500" cy="6914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293"/>
              </a:lnSpc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2226"/>
              <a:buFont typeface="Calibri"/>
              <a:buNone/>
            </a:pPr>
            <a:r>
              <a:rPr b="1" i="0" lang="en" sz="2226" u="none" cap="none" strike="noStrike">
                <a:solidFill>
                  <a:srgbClr val="0033A0"/>
                </a:solidFill>
                <a:latin typeface="Calibri"/>
                <a:ea typeface="Calibri"/>
                <a:cs typeface="Calibri"/>
                <a:sym typeface="Calibri"/>
              </a:rPr>
              <a:t>Post-Layout Simulation Accounts for Parasitic Effects</a:t>
            </a:r>
            <a:endParaRPr b="0" i="0" sz="22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3"/>
          <p:cNvSpPr/>
          <p:nvPr/>
        </p:nvSpPr>
        <p:spPr>
          <a:xfrm>
            <a:off x="571500" y="2227678"/>
            <a:ext cx="3900488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93"/>
              <a:buFont typeface="Calibri"/>
              <a:buNone/>
            </a:pPr>
            <a:r>
              <a:rPr b="1" i="0" lang="en" sz="1193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Parasitic Extraction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3"/>
          <p:cNvSpPr/>
          <p:nvPr/>
        </p:nvSpPr>
        <p:spPr>
          <a:xfrm>
            <a:off x="571500" y="2518786"/>
            <a:ext cx="3900488" cy="578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Calibri"/>
              <a:buNone/>
            </a:pPr>
            <a:r>
              <a:rPr b="0" i="0" lang="en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Performed full extraction to include </a:t>
            </a:r>
            <a:r>
              <a:rPr b="1" i="0" lang="en" sz="885" u="none" cap="none" strike="noStrike">
                <a:solidFill>
                  <a:srgbClr val="0033A0"/>
                </a:solidFill>
                <a:latin typeface="Calibri"/>
                <a:ea typeface="Calibri"/>
                <a:cs typeface="Calibri"/>
                <a:sym typeface="Calibri"/>
              </a:rPr>
              <a:t>interconnect capacitance</a:t>
            </a:r>
            <a:r>
              <a:rPr b="0" i="0" lang="en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and diffusion parasitics, ensuring a realistic performance assessment.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3"/>
          <p:cNvSpPr/>
          <p:nvPr/>
        </p:nvSpPr>
        <p:spPr>
          <a:xfrm>
            <a:off x="571500" y="3511767"/>
            <a:ext cx="3900488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93"/>
              <a:buFont typeface="Calibri"/>
              <a:buNone/>
            </a:pPr>
            <a:r>
              <a:rPr b="1" i="0" lang="en" sz="1193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Robustness Verification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3"/>
          <p:cNvSpPr/>
          <p:nvPr/>
        </p:nvSpPr>
        <p:spPr>
          <a:xfrm>
            <a:off x="571500" y="3802875"/>
            <a:ext cx="3900488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Calibri"/>
              <a:buNone/>
            </a:pPr>
            <a:r>
              <a:rPr b="0" i="0" lang="en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Verified that the CCFF maintains its power-saving advantages and functional stability even with layout-induced overhead.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3"/>
          <p:cNvSpPr/>
          <p:nvPr/>
        </p:nvSpPr>
        <p:spPr>
          <a:xfrm>
            <a:off x="571500" y="4602975"/>
            <a:ext cx="3900488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93"/>
              <a:buFont typeface="Calibri"/>
              <a:buNone/>
            </a:pPr>
            <a:r>
              <a:rPr b="1" i="0" lang="en" sz="1193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Delay &amp; Stability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3"/>
          <p:cNvSpPr/>
          <p:nvPr/>
        </p:nvSpPr>
        <p:spPr>
          <a:xfrm>
            <a:off x="571500" y="4894083"/>
            <a:ext cx="3900488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Calibri"/>
              <a:buNone/>
            </a:pPr>
            <a:r>
              <a:rPr b="0" i="0" lang="en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Analyzed the impact of parasitics on Clk-to-Q delay, confirming stable operation under varying load conditions.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3"/>
          <p:cNvSpPr txBox="1"/>
          <p:nvPr/>
        </p:nvSpPr>
        <p:spPr>
          <a:xfrm>
            <a:off x="5553101" y="3902276"/>
            <a:ext cx="25464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34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Conditional capture flip-flop Post-Layout Simulation</a:t>
            </a:r>
            <a:endParaRPr i="1" sz="834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" name="Google Shape;209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8550" y="1652125"/>
            <a:ext cx="4075448" cy="22050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15" name="Google Shape;21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4"/>
          <p:cNvSpPr/>
          <p:nvPr/>
        </p:nvSpPr>
        <p:spPr>
          <a:xfrm>
            <a:off x="428625" y="832386"/>
            <a:ext cx="8715375" cy="6914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293"/>
              </a:lnSpc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2226"/>
              <a:buFont typeface="Calibri"/>
              <a:buNone/>
            </a:pPr>
            <a:r>
              <a:rPr b="1" i="0" lang="en" sz="2226" u="none" cap="none" strike="noStrike">
                <a:solidFill>
                  <a:srgbClr val="0033A0"/>
                </a:solidFill>
                <a:latin typeface="Calibri"/>
                <a:ea typeface="Calibri"/>
                <a:cs typeface="Calibri"/>
                <a:sym typeface="Calibri"/>
              </a:rPr>
              <a:t>CCFF Achieves Significant Power Reduction Over Standard Designs</a:t>
            </a:r>
            <a:endParaRPr b="0" i="0" sz="22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4"/>
          <p:cNvSpPr/>
          <p:nvPr/>
        </p:nvSpPr>
        <p:spPr>
          <a:xfrm>
            <a:off x="428625" y="2056228"/>
            <a:ext cx="4086225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EC5800"/>
              </a:buClr>
              <a:buSzPts val="683"/>
              <a:buFont typeface="Calibri"/>
              <a:buNone/>
            </a:pPr>
            <a:r>
              <a:rPr b="1" i="0" lang="en" sz="683" u="none" cap="none" strike="noStrike">
                <a:solidFill>
                  <a:srgbClr val="EC5800"/>
                </a:solidFill>
                <a:latin typeface="Calibri"/>
                <a:ea typeface="Calibri"/>
                <a:cs typeface="Calibri"/>
                <a:sym typeface="Calibri"/>
              </a:rPr>
              <a:t>Power Efficiency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4"/>
          <p:cNvSpPr/>
          <p:nvPr/>
        </p:nvSpPr>
        <p:spPr>
          <a:xfrm>
            <a:off x="428625" y="2449134"/>
            <a:ext cx="4086225" cy="273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97"/>
              <a:buFont typeface="Calibri"/>
              <a:buNone/>
            </a:pPr>
            <a:r>
              <a:rPr b="1" i="0" lang="en" sz="1397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Clock Power Reduction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4"/>
          <p:cNvSpPr/>
          <p:nvPr/>
        </p:nvSpPr>
        <p:spPr>
          <a:xfrm>
            <a:off x="428625" y="2779533"/>
            <a:ext cx="4086225" cy="180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Calibri"/>
              <a:buNone/>
            </a:pPr>
            <a:r>
              <a:rPr b="0" i="0" lang="en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Lower clock dynamic power from </a:t>
            </a:r>
            <a:r>
              <a:rPr b="1" i="0" lang="en" sz="885" u="none" cap="none" strike="noStrike">
                <a:solidFill>
                  <a:srgbClr val="0033A0"/>
                </a:solidFill>
                <a:latin typeface="Calibri"/>
                <a:ea typeface="Calibri"/>
                <a:cs typeface="Calibri"/>
                <a:sym typeface="Calibri"/>
              </a:rPr>
              <a:t>reduced capacitive loading</a:t>
            </a:r>
            <a:r>
              <a:rPr b="0" i="0" lang="en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4"/>
          <p:cNvSpPr/>
          <p:nvPr/>
        </p:nvSpPr>
        <p:spPr>
          <a:xfrm>
            <a:off x="4629150" y="2056228"/>
            <a:ext cx="4086225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EC5800"/>
              </a:buClr>
              <a:buSzPts val="683"/>
              <a:buFont typeface="Calibri"/>
              <a:buNone/>
            </a:pPr>
            <a:r>
              <a:rPr b="1" i="0" lang="en" sz="683" u="none" cap="none" strike="noStrike">
                <a:solidFill>
                  <a:srgbClr val="EC5800"/>
                </a:solidFill>
                <a:latin typeface="Calibri"/>
                <a:ea typeface="Calibri"/>
                <a:cs typeface="Calibri"/>
                <a:sym typeface="Calibri"/>
              </a:rPr>
              <a:t>Activity Scaling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4"/>
          <p:cNvSpPr/>
          <p:nvPr/>
        </p:nvSpPr>
        <p:spPr>
          <a:xfrm>
            <a:off x="4629150" y="2449134"/>
            <a:ext cx="4086225" cy="273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97"/>
              <a:buFont typeface="Calibri"/>
              <a:buNone/>
            </a:pPr>
            <a:r>
              <a:rPr b="1" i="0" lang="en" sz="1397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Dynamic Power Savings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4"/>
          <p:cNvSpPr/>
          <p:nvPr/>
        </p:nvSpPr>
        <p:spPr>
          <a:xfrm>
            <a:off x="4629150" y="2779533"/>
            <a:ext cx="4086225" cy="180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Calibri"/>
              <a:buNone/>
            </a:pPr>
            <a:r>
              <a:rPr b="0" i="0" lang="en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Greater savings at lower activity for </a:t>
            </a:r>
            <a:r>
              <a:rPr b="1" i="0" lang="en" sz="885" u="none" cap="none" strike="noStrike">
                <a:solidFill>
                  <a:srgbClr val="0033A0"/>
                </a:solidFill>
                <a:latin typeface="Calibri"/>
                <a:ea typeface="Calibri"/>
                <a:cs typeface="Calibri"/>
                <a:sym typeface="Calibri"/>
              </a:rPr>
              <a:t>low-activity paths</a:t>
            </a:r>
            <a:r>
              <a:rPr b="0" i="0" lang="en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4"/>
          <p:cNvSpPr/>
          <p:nvPr/>
        </p:nvSpPr>
        <p:spPr>
          <a:xfrm>
            <a:off x="428625" y="3188150"/>
            <a:ext cx="4086225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EC5800"/>
              </a:buClr>
              <a:buSzPts val="683"/>
              <a:buFont typeface="Calibri"/>
              <a:buNone/>
            </a:pPr>
            <a:r>
              <a:rPr b="1" i="0" lang="en" sz="683" u="none" cap="none" strike="noStrike">
                <a:solidFill>
                  <a:srgbClr val="EC5800"/>
                </a:solidFill>
                <a:latin typeface="Calibri"/>
                <a:ea typeface="Calibri"/>
                <a:cs typeface="Calibri"/>
                <a:sym typeface="Calibri"/>
              </a:rPr>
              <a:t>Physical Design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4"/>
          <p:cNvSpPr/>
          <p:nvPr/>
        </p:nvSpPr>
        <p:spPr>
          <a:xfrm>
            <a:off x="428625" y="3581056"/>
            <a:ext cx="4086225" cy="273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97"/>
              <a:buFont typeface="Calibri"/>
              <a:buNone/>
            </a:pPr>
            <a:r>
              <a:rPr b="1" i="0" lang="en" sz="1397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Area Trade-off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4"/>
          <p:cNvSpPr/>
          <p:nvPr/>
        </p:nvSpPr>
        <p:spPr>
          <a:xfrm>
            <a:off x="428625" y="3911454"/>
            <a:ext cx="4086225" cy="360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Calibri"/>
              <a:buNone/>
            </a:pPr>
            <a:r>
              <a:rPr b="0" i="0" lang="en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Minor area overhead due to gating and comparison for </a:t>
            </a:r>
            <a:r>
              <a:rPr b="1" i="0" lang="en" sz="885" u="none" cap="none" strike="noStrike">
                <a:solidFill>
                  <a:srgbClr val="0033A0"/>
                </a:solidFill>
                <a:latin typeface="Calibri"/>
                <a:ea typeface="Calibri"/>
                <a:cs typeface="Calibri"/>
                <a:sym typeface="Calibri"/>
              </a:rPr>
              <a:t>conditional capture</a:t>
            </a:r>
            <a:r>
              <a:rPr b="0" i="0" lang="en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4"/>
          <p:cNvSpPr/>
          <p:nvPr/>
        </p:nvSpPr>
        <p:spPr>
          <a:xfrm>
            <a:off x="4629150" y="3188150"/>
            <a:ext cx="4086225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EC5800"/>
              </a:buClr>
              <a:buSzPts val="683"/>
              <a:buFont typeface="Calibri"/>
              <a:buNone/>
            </a:pPr>
            <a:r>
              <a:rPr b="1" i="0" lang="en" sz="683" u="none" cap="none" strike="noStrike">
                <a:solidFill>
                  <a:srgbClr val="EC5800"/>
                </a:solidFill>
                <a:latin typeface="Calibri"/>
                <a:ea typeface="Calibri"/>
                <a:cs typeface="Calibri"/>
                <a:sym typeface="Calibri"/>
              </a:rPr>
              <a:t>Timing Stability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4"/>
          <p:cNvSpPr/>
          <p:nvPr/>
        </p:nvSpPr>
        <p:spPr>
          <a:xfrm>
            <a:off x="4629150" y="3581056"/>
            <a:ext cx="4086225" cy="273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97"/>
              <a:buFont typeface="Calibri"/>
              <a:buNone/>
            </a:pPr>
            <a:r>
              <a:rPr b="1" i="0" lang="en" sz="1397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Performance Balance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4"/>
          <p:cNvSpPr/>
          <p:nvPr/>
        </p:nvSpPr>
        <p:spPr>
          <a:xfrm>
            <a:off x="4629150" y="3911454"/>
            <a:ext cx="4086225" cy="360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Calibri"/>
              <a:buNone/>
            </a:pPr>
            <a:r>
              <a:rPr b="0" i="0" lang="en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Timing remains within limits for 32 nm, ensuring </a:t>
            </a:r>
            <a:r>
              <a:rPr b="1" i="0" lang="en" sz="885" u="none" cap="none" strike="noStrike">
                <a:solidFill>
                  <a:srgbClr val="0033A0"/>
                </a:solidFill>
                <a:latin typeface="Calibri"/>
                <a:ea typeface="Calibri"/>
                <a:cs typeface="Calibri"/>
                <a:sym typeface="Calibri"/>
              </a:rPr>
              <a:t>robust operation</a:t>
            </a:r>
            <a:r>
              <a:rPr b="0" i="0" lang="en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4"/>
          <p:cNvSpPr/>
          <p:nvPr/>
        </p:nvSpPr>
        <p:spPr>
          <a:xfrm>
            <a:off x="0" y="4486275"/>
            <a:ext cx="9144000" cy="657225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4"/>
          <p:cNvSpPr/>
          <p:nvPr/>
        </p:nvSpPr>
        <p:spPr>
          <a:xfrm>
            <a:off x="428625" y="4572000"/>
            <a:ext cx="8286750" cy="2500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Calibri"/>
              <a:buNone/>
            </a:pPr>
            <a:r>
              <a:rPr b="1" i="0" lang="en" sz="119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Optimized for 32 nm CMOS: Power ↓ | Timing OK | Area Reasonable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5"/>
          <p:cNvSpPr/>
          <p:nvPr/>
        </p:nvSpPr>
        <p:spPr>
          <a:xfrm>
            <a:off x="285750" y="316111"/>
            <a:ext cx="8572500" cy="6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293"/>
              </a:lnSpc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2226"/>
              <a:buFont typeface="Calibri"/>
              <a:buNone/>
            </a:pPr>
            <a:r>
              <a:rPr b="1" i="0" lang="en" sz="2226" u="none" cap="none" strike="noStrike">
                <a:solidFill>
                  <a:srgbClr val="0033A0"/>
                </a:solidFill>
                <a:latin typeface="Calibri"/>
                <a:ea typeface="Calibri"/>
                <a:cs typeface="Calibri"/>
                <a:sym typeface="Calibri"/>
              </a:rPr>
              <a:t>Comprehensive Metrics Ensure a Fair Design Comparison</a:t>
            </a:r>
            <a:endParaRPr b="0" i="0" sz="22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5"/>
          <p:cNvSpPr/>
          <p:nvPr/>
        </p:nvSpPr>
        <p:spPr>
          <a:xfrm>
            <a:off x="637450" y="1061753"/>
            <a:ext cx="1279200" cy="38940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5"/>
          <p:cNvSpPr/>
          <p:nvPr/>
        </p:nvSpPr>
        <p:spPr>
          <a:xfrm>
            <a:off x="637450" y="1061753"/>
            <a:ext cx="12792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Metric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5"/>
          <p:cNvSpPr/>
          <p:nvPr/>
        </p:nvSpPr>
        <p:spPr>
          <a:xfrm>
            <a:off x="1916711" y="1061753"/>
            <a:ext cx="1769700" cy="38940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5"/>
          <p:cNvSpPr/>
          <p:nvPr/>
        </p:nvSpPr>
        <p:spPr>
          <a:xfrm>
            <a:off x="1916711" y="1061753"/>
            <a:ext cx="17697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lang="en" sz="88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Master-Slave FF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5"/>
          <p:cNvSpPr/>
          <p:nvPr/>
        </p:nvSpPr>
        <p:spPr>
          <a:xfrm>
            <a:off x="3686269" y="1061753"/>
            <a:ext cx="1580400" cy="38940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5"/>
          <p:cNvSpPr/>
          <p:nvPr/>
        </p:nvSpPr>
        <p:spPr>
          <a:xfrm>
            <a:off x="3686444" y="1061753"/>
            <a:ext cx="15804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lang="en" sz="88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1" i="0" lang="en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CFF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5"/>
          <p:cNvSpPr/>
          <p:nvPr/>
        </p:nvSpPr>
        <p:spPr>
          <a:xfrm>
            <a:off x="637450" y="1479420"/>
            <a:ext cx="4629300" cy="384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5"/>
          <p:cNvSpPr/>
          <p:nvPr/>
        </p:nvSpPr>
        <p:spPr>
          <a:xfrm>
            <a:off x="637450" y="1479420"/>
            <a:ext cx="1279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84"/>
              <a:buFont typeface="Calibri"/>
              <a:buNone/>
            </a:pPr>
            <a:r>
              <a:rPr b="1" lang="en" sz="784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Clk-to-Q Delay</a:t>
            </a:r>
            <a:endParaRPr b="1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5"/>
          <p:cNvSpPr/>
          <p:nvPr/>
        </p:nvSpPr>
        <p:spPr>
          <a:xfrm>
            <a:off x="2282556" y="1465275"/>
            <a:ext cx="8487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4"/>
              <a:buFont typeface="Calibri"/>
              <a:buNone/>
            </a:pPr>
            <a:r>
              <a:rPr b="1" lang="en" sz="834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4.05 x 10^-8</a:t>
            </a:r>
            <a:endParaRPr b="1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5"/>
          <p:cNvSpPr/>
          <p:nvPr/>
        </p:nvSpPr>
        <p:spPr>
          <a:xfrm>
            <a:off x="4052122" y="1469713"/>
            <a:ext cx="8487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4"/>
              <a:buFont typeface="Calibri"/>
              <a:buNone/>
            </a:pPr>
            <a:r>
              <a:rPr b="1" lang="en" sz="834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4.02 x 10^-8</a:t>
            </a:r>
            <a:endParaRPr b="1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5"/>
          <p:cNvSpPr/>
          <p:nvPr/>
        </p:nvSpPr>
        <p:spPr>
          <a:xfrm>
            <a:off x="637450" y="1863397"/>
            <a:ext cx="1279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84"/>
              <a:buFont typeface="Calibri"/>
              <a:buNone/>
            </a:pPr>
            <a:r>
              <a:rPr b="1" lang="en" sz="784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Setup time</a:t>
            </a:r>
            <a:endParaRPr b="1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5"/>
          <p:cNvSpPr/>
          <p:nvPr/>
        </p:nvSpPr>
        <p:spPr>
          <a:xfrm>
            <a:off x="2282556" y="1863400"/>
            <a:ext cx="8487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4"/>
              <a:buFont typeface="Calibri"/>
              <a:buNone/>
            </a:pPr>
            <a:r>
              <a:rPr b="1" lang="en" sz="834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lang="en" sz="834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.6 x 10^-8</a:t>
            </a:r>
            <a:endParaRPr sz="834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5"/>
          <p:cNvSpPr/>
          <p:nvPr/>
        </p:nvSpPr>
        <p:spPr>
          <a:xfrm>
            <a:off x="4052297" y="1872263"/>
            <a:ext cx="8487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4"/>
              <a:buFont typeface="Calibri"/>
              <a:buNone/>
            </a:pPr>
            <a:r>
              <a:rPr b="1" lang="en" sz="834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3.6 x 10^-8</a:t>
            </a:r>
            <a:endParaRPr b="1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5"/>
          <p:cNvSpPr/>
          <p:nvPr/>
        </p:nvSpPr>
        <p:spPr>
          <a:xfrm>
            <a:off x="637450" y="2247373"/>
            <a:ext cx="4629300" cy="384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5"/>
          <p:cNvSpPr/>
          <p:nvPr/>
        </p:nvSpPr>
        <p:spPr>
          <a:xfrm>
            <a:off x="637450" y="2247386"/>
            <a:ext cx="1279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84"/>
              <a:buFont typeface="Calibri"/>
              <a:buNone/>
            </a:pPr>
            <a:r>
              <a:t/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5"/>
          <p:cNvSpPr/>
          <p:nvPr/>
        </p:nvSpPr>
        <p:spPr>
          <a:xfrm>
            <a:off x="2282556" y="2261525"/>
            <a:ext cx="8487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4"/>
              <a:buFont typeface="Calibri"/>
              <a:buNone/>
            </a:pPr>
            <a:r>
              <a:rPr b="1" lang="en" sz="834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" sz="834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.7 x 10^-8</a:t>
            </a:r>
            <a:endParaRPr sz="83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5"/>
          <p:cNvSpPr/>
          <p:nvPr/>
        </p:nvSpPr>
        <p:spPr>
          <a:xfrm>
            <a:off x="3686269" y="2247373"/>
            <a:ext cx="1580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4"/>
              <a:buFont typeface="Calibri"/>
              <a:buNone/>
            </a:pPr>
            <a:r>
              <a:t/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5"/>
          <p:cNvSpPr/>
          <p:nvPr/>
        </p:nvSpPr>
        <p:spPr>
          <a:xfrm>
            <a:off x="637500" y="3567231"/>
            <a:ext cx="46293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0050" spcFirstLastPara="1" rIns="0" wrap="square" tIns="0">
            <a:no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84"/>
              <a:buFont typeface="Calibri"/>
              <a:buNone/>
            </a:pPr>
            <a:r>
              <a:rPr b="1" i="0" lang="en" sz="784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Comparison Framework:</a:t>
            </a:r>
            <a:r>
              <a:rPr b="0" i="0" lang="en" sz="834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Both designs evaluated in 32 nm CMOS under identical VDD, temperature, and load conditions for a fair Power-Delay-Product (PDP) analysis.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5"/>
          <p:cNvSpPr/>
          <p:nvPr/>
        </p:nvSpPr>
        <p:spPr>
          <a:xfrm>
            <a:off x="637450" y="2659648"/>
            <a:ext cx="1279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84"/>
              <a:buFont typeface="Calibri"/>
              <a:buNone/>
            </a:pPr>
            <a:r>
              <a:rPr b="1" lang="en" sz="784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Area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5"/>
          <p:cNvSpPr/>
          <p:nvPr/>
        </p:nvSpPr>
        <p:spPr>
          <a:xfrm>
            <a:off x="637450" y="3011748"/>
            <a:ext cx="4629300" cy="384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5"/>
          <p:cNvSpPr/>
          <p:nvPr/>
        </p:nvSpPr>
        <p:spPr>
          <a:xfrm>
            <a:off x="4052122" y="2659650"/>
            <a:ext cx="8487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4"/>
              <a:buFont typeface="Calibri"/>
              <a:buNone/>
            </a:pPr>
            <a:r>
              <a:rPr b="1" lang="en" sz="834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3.86 e^-12</a:t>
            </a:r>
            <a:endParaRPr b="1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5"/>
          <p:cNvSpPr/>
          <p:nvPr/>
        </p:nvSpPr>
        <p:spPr>
          <a:xfrm>
            <a:off x="637450" y="2204572"/>
            <a:ext cx="1279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84"/>
              <a:buFont typeface="Calibri"/>
              <a:buNone/>
            </a:pPr>
            <a:r>
              <a:rPr b="1" lang="en" sz="784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Hold</a:t>
            </a:r>
            <a:r>
              <a:rPr b="1" lang="en" sz="784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time</a:t>
            </a:r>
            <a:endParaRPr b="1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5"/>
          <p:cNvSpPr/>
          <p:nvPr/>
        </p:nvSpPr>
        <p:spPr>
          <a:xfrm>
            <a:off x="4052297" y="2261525"/>
            <a:ext cx="8487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4"/>
              <a:buFont typeface="Calibri"/>
              <a:buNone/>
            </a:pPr>
            <a:r>
              <a:rPr b="1" lang="en" sz="834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1.7</a:t>
            </a:r>
            <a:r>
              <a:rPr b="1" lang="en" sz="834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x 10^-8</a:t>
            </a:r>
            <a:endParaRPr b="1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5"/>
          <p:cNvSpPr/>
          <p:nvPr/>
        </p:nvSpPr>
        <p:spPr>
          <a:xfrm>
            <a:off x="2282547" y="2659650"/>
            <a:ext cx="8487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4"/>
              <a:buFont typeface="Calibri"/>
              <a:buNone/>
            </a:pPr>
            <a:r>
              <a:rPr b="1" lang="en" sz="834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3.5 e^-12</a:t>
            </a:r>
            <a:endParaRPr b="1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5"/>
          <p:cNvSpPr/>
          <p:nvPr/>
        </p:nvSpPr>
        <p:spPr>
          <a:xfrm>
            <a:off x="637450" y="3014973"/>
            <a:ext cx="1279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84"/>
              <a:buFont typeface="Calibri"/>
              <a:buNone/>
            </a:pPr>
            <a:r>
              <a:rPr b="1" lang="en" sz="784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Avg Power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5"/>
          <p:cNvSpPr/>
          <p:nvPr/>
        </p:nvSpPr>
        <p:spPr>
          <a:xfrm>
            <a:off x="2282547" y="3015325"/>
            <a:ext cx="8487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4"/>
              <a:buFont typeface="Calibri"/>
              <a:buNone/>
            </a:pPr>
            <a:r>
              <a:rPr b="1" lang="en" sz="834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3.5 e^-12</a:t>
            </a:r>
            <a:endParaRPr b="1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5"/>
          <p:cNvSpPr/>
          <p:nvPr/>
        </p:nvSpPr>
        <p:spPr>
          <a:xfrm>
            <a:off x="4052297" y="3021000"/>
            <a:ext cx="8487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4"/>
              <a:buFont typeface="Calibri"/>
              <a:buNone/>
            </a:pPr>
            <a:r>
              <a:rPr b="1" lang="en" sz="834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3.5 e^-12</a:t>
            </a:r>
            <a:endParaRPr b="1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9" name="Google Shape;26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6"/>
          <p:cNvSpPr/>
          <p:nvPr/>
        </p:nvSpPr>
        <p:spPr>
          <a:xfrm>
            <a:off x="571500" y="832386"/>
            <a:ext cx="8572500" cy="6914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293"/>
              </a:lnSpc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2226"/>
              <a:buFont typeface="Calibri"/>
              <a:buNone/>
            </a:pPr>
            <a:r>
              <a:rPr b="1" i="0" lang="en" sz="2226" u="none" cap="none" strike="noStrike">
                <a:solidFill>
                  <a:srgbClr val="0033A0"/>
                </a:solidFill>
                <a:latin typeface="Calibri"/>
                <a:ea typeface="Calibri"/>
                <a:cs typeface="Calibri"/>
                <a:sym typeface="Calibri"/>
              </a:rPr>
              <a:t>CCFF is an Effective Solution for Low-Power Sequential Logic</a:t>
            </a:r>
            <a:endParaRPr b="0" i="0" sz="22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6"/>
          <p:cNvSpPr/>
          <p:nvPr/>
        </p:nvSpPr>
        <p:spPr>
          <a:xfrm>
            <a:off x="571500" y="1970503"/>
            <a:ext cx="3971925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EC5800"/>
              </a:buClr>
              <a:buSzPts val="683"/>
              <a:buFont typeface="Calibri"/>
              <a:buNone/>
            </a:pPr>
            <a:r>
              <a:rPr b="1" i="0" lang="en" sz="683" u="none" cap="none" strike="noStrike">
                <a:solidFill>
                  <a:srgbClr val="EC5800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6"/>
          <p:cNvSpPr/>
          <p:nvPr/>
        </p:nvSpPr>
        <p:spPr>
          <a:xfrm>
            <a:off x="571500" y="2334834"/>
            <a:ext cx="3971925" cy="273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97"/>
              <a:buFont typeface="Calibri"/>
              <a:buNone/>
            </a:pPr>
            <a:r>
              <a:rPr b="1" i="0" lang="en" sz="1397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Redundant Switching Eliminated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6"/>
          <p:cNvSpPr/>
          <p:nvPr/>
        </p:nvSpPr>
        <p:spPr>
          <a:xfrm>
            <a:off x="571500" y="2650945"/>
            <a:ext cx="3971925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Calibri"/>
              <a:buNone/>
            </a:pPr>
            <a:r>
              <a:rPr b="0" i="0" lang="en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Implemented a CCFF that removes redundant switching, giving </a:t>
            </a:r>
            <a:r>
              <a:rPr b="1" i="0" lang="en" sz="885" u="none" cap="none" strike="noStrike">
                <a:solidFill>
                  <a:srgbClr val="0033A0"/>
                </a:solidFill>
                <a:latin typeface="Calibri"/>
                <a:ea typeface="Calibri"/>
                <a:cs typeface="Calibri"/>
                <a:sym typeface="Calibri"/>
              </a:rPr>
              <a:t>statistical power reduction</a:t>
            </a:r>
            <a:r>
              <a:rPr b="0" i="0" lang="en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6"/>
          <p:cNvSpPr/>
          <p:nvPr/>
        </p:nvSpPr>
        <p:spPr>
          <a:xfrm>
            <a:off x="4600575" y="1970503"/>
            <a:ext cx="3971925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EC5800"/>
              </a:buClr>
              <a:buSzPts val="683"/>
              <a:buFont typeface="Calibri"/>
              <a:buNone/>
            </a:pPr>
            <a:r>
              <a:rPr b="1" i="0" lang="en" sz="683" u="none" cap="none" strike="noStrike">
                <a:solidFill>
                  <a:srgbClr val="EC5800"/>
                </a:solidFill>
                <a:latin typeface="Calibri"/>
                <a:ea typeface="Calibri"/>
                <a:cs typeface="Calibri"/>
                <a:sym typeface="Calibri"/>
              </a:rPr>
              <a:t>Application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6"/>
          <p:cNvSpPr/>
          <p:nvPr/>
        </p:nvSpPr>
        <p:spPr>
          <a:xfrm>
            <a:off x="4600575" y="2334834"/>
            <a:ext cx="3971925" cy="273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97"/>
              <a:buFont typeface="Calibri"/>
              <a:buNone/>
            </a:pPr>
            <a:r>
              <a:rPr b="1" i="0" lang="en" sz="1397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Ideal for Low-Activity Paths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6"/>
          <p:cNvSpPr/>
          <p:nvPr/>
        </p:nvSpPr>
        <p:spPr>
          <a:xfrm>
            <a:off x="4600575" y="2650945"/>
            <a:ext cx="3971925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Calibri"/>
              <a:buNone/>
            </a:pPr>
            <a:r>
              <a:rPr b="0" i="0" lang="en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Best for low temporal activity paths as a </a:t>
            </a:r>
            <a:r>
              <a:rPr b="1" i="0" lang="en" sz="885" u="none" cap="none" strike="noStrike">
                <a:solidFill>
                  <a:srgbClr val="0033A0"/>
                </a:solidFill>
                <a:latin typeface="Calibri"/>
                <a:ea typeface="Calibri"/>
                <a:cs typeface="Calibri"/>
                <a:sym typeface="Calibri"/>
              </a:rPr>
              <a:t>robust alternative</a:t>
            </a:r>
            <a:r>
              <a:rPr b="0" i="0" lang="en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to standard flip-flops.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6"/>
          <p:cNvSpPr/>
          <p:nvPr/>
        </p:nvSpPr>
        <p:spPr>
          <a:xfrm>
            <a:off x="571500" y="3205256"/>
            <a:ext cx="3971925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EC5800"/>
              </a:buClr>
              <a:buSzPts val="683"/>
              <a:buFont typeface="Calibri"/>
              <a:buNone/>
            </a:pPr>
            <a:r>
              <a:rPr b="1" i="0" lang="en" sz="683" u="none" cap="none" strike="noStrike">
                <a:solidFill>
                  <a:srgbClr val="EC5800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6"/>
          <p:cNvSpPr/>
          <p:nvPr/>
        </p:nvSpPr>
        <p:spPr>
          <a:xfrm>
            <a:off x="571500" y="3569587"/>
            <a:ext cx="3971925" cy="273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97"/>
              <a:buFont typeface="Calibri"/>
              <a:buNone/>
            </a:pPr>
            <a:r>
              <a:rPr b="1" i="0" lang="en" sz="1397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Advanced Node Optimization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6"/>
          <p:cNvSpPr/>
          <p:nvPr/>
        </p:nvSpPr>
        <p:spPr>
          <a:xfrm>
            <a:off x="571500" y="3885698"/>
            <a:ext cx="3971925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Calibri"/>
              <a:buNone/>
            </a:pPr>
            <a:r>
              <a:rPr b="0" i="0" lang="en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Optimize in </a:t>
            </a:r>
            <a:r>
              <a:rPr b="1" i="0" lang="en" sz="885" u="none" cap="none" strike="noStrike">
                <a:solidFill>
                  <a:srgbClr val="0033A0"/>
                </a:solidFill>
                <a:latin typeface="Calibri"/>
                <a:ea typeface="Calibri"/>
                <a:cs typeface="Calibri"/>
                <a:sym typeface="Calibri"/>
              </a:rPr>
              <a:t>22 nm and beyond</a:t>
            </a:r>
            <a:r>
              <a:rPr b="0" i="0" lang="en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using FinFETs to reduce leakage and dynamic power.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6"/>
          <p:cNvSpPr/>
          <p:nvPr/>
        </p:nvSpPr>
        <p:spPr>
          <a:xfrm>
            <a:off x="4600575" y="3205256"/>
            <a:ext cx="3971925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EC5800"/>
              </a:buClr>
              <a:buSzPts val="683"/>
              <a:buFont typeface="Calibri"/>
              <a:buNone/>
            </a:pPr>
            <a:r>
              <a:rPr b="1" i="0" lang="en" sz="683" u="none" cap="none" strike="noStrike">
                <a:solidFill>
                  <a:srgbClr val="EC5800"/>
                </a:solidFill>
                <a:latin typeface="Calibri"/>
                <a:ea typeface="Calibri"/>
                <a:cs typeface="Calibri"/>
                <a:sym typeface="Calibri"/>
              </a:rPr>
              <a:t>Verdict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6"/>
          <p:cNvSpPr/>
          <p:nvPr/>
        </p:nvSpPr>
        <p:spPr>
          <a:xfrm>
            <a:off x="4600575" y="3569587"/>
            <a:ext cx="3971925" cy="273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97"/>
              <a:buFont typeface="Calibri"/>
              <a:buNone/>
            </a:pPr>
            <a:r>
              <a:rPr b="1" i="0" lang="en" sz="1397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Ready for Integration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6"/>
          <p:cNvSpPr/>
          <p:nvPr/>
        </p:nvSpPr>
        <p:spPr>
          <a:xfrm>
            <a:off x="4600575" y="3885698"/>
            <a:ext cx="3971925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Calibri"/>
              <a:buNone/>
            </a:pPr>
            <a:r>
              <a:rPr b="0" i="0" lang="en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 low-power solution balancing area, timing, and power for </a:t>
            </a:r>
            <a:r>
              <a:rPr b="1" i="0" lang="en" sz="885" u="none" cap="none" strike="noStrike">
                <a:solidFill>
                  <a:srgbClr val="0033A0"/>
                </a:solidFill>
                <a:latin typeface="Calibri"/>
                <a:ea typeface="Calibri"/>
                <a:cs typeface="Calibri"/>
                <a:sym typeface="Calibri"/>
              </a:rPr>
              <a:t>modern sequential designs</a:t>
            </a:r>
            <a:r>
              <a:rPr b="0" i="0" lang="en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6"/>
          <p:cNvSpPr/>
          <p:nvPr/>
        </p:nvSpPr>
        <p:spPr>
          <a:xfrm>
            <a:off x="0" y="4400550"/>
            <a:ext cx="9144000" cy="742950"/>
          </a:xfrm>
          <a:prstGeom prst="rect">
            <a:avLst/>
          </a:prstGeom>
          <a:solidFill>
            <a:srgbClr val="EC5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6"/>
          <p:cNvSpPr/>
          <p:nvPr/>
        </p:nvSpPr>
        <p:spPr>
          <a:xfrm>
            <a:off x="571500" y="4486275"/>
            <a:ext cx="8001000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Calibri"/>
              <a:buNone/>
            </a:pPr>
            <a:r>
              <a:rPr b="1" i="0" lang="en" sz="119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Design Validated | Power Optimized | 32 nm CMOS Ready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